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74" r:id="rId7"/>
    <p:sldId id="262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C931D-1F74-4534-B571-BABA4CC2A47B}" type="datetimeFigureOut">
              <a:rPr lang="en-US" smtClean="0"/>
              <a:t>2/28/2018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0B43A-1604-4954-99B5-4F8C3225966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6670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C931D-1F74-4534-B571-BABA4CC2A47B}" type="datetimeFigureOut">
              <a:rPr lang="en-US" smtClean="0"/>
              <a:t>2/28/2018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0B43A-1604-4954-99B5-4F8C32259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391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C931D-1F74-4534-B571-BABA4CC2A47B}" type="datetimeFigureOut">
              <a:rPr lang="en-US" smtClean="0"/>
              <a:t>2/28/2018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0B43A-1604-4954-99B5-4F8C3225966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8337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C931D-1F74-4534-B571-BABA4CC2A47B}" type="datetimeFigureOut">
              <a:rPr lang="en-US" smtClean="0"/>
              <a:t>2/28/2018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0B43A-1604-4954-99B5-4F8C32259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512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C931D-1F74-4534-B571-BABA4CC2A47B}" type="datetimeFigureOut">
              <a:rPr lang="en-US" smtClean="0"/>
              <a:t>2/28/2018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0B43A-1604-4954-99B5-4F8C32259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480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C931D-1F74-4534-B571-BABA4CC2A47B}" type="datetimeFigureOut">
              <a:rPr lang="en-US" smtClean="0"/>
              <a:t>2/28/2018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0B43A-1604-4954-99B5-4F8C32259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253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C931D-1F74-4534-B571-BABA4CC2A47B}" type="datetimeFigureOut">
              <a:rPr lang="en-US" smtClean="0"/>
              <a:t>2/28/2018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0B43A-1604-4954-99B5-4F8C32259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625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AFC931D-1F74-4534-B571-BABA4CC2A47B}" type="datetimeFigureOut">
              <a:rPr lang="en-US" smtClean="0"/>
              <a:t>2/28/2018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220B43A-1604-4954-99B5-4F8C32259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955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C931D-1F74-4534-B571-BABA4CC2A47B}" type="datetimeFigureOut">
              <a:rPr lang="en-US" smtClean="0"/>
              <a:t>2/28/2018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0B43A-1604-4954-99B5-4F8C32259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749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C931D-1F74-4534-B571-BABA4CC2A47B}" type="datetimeFigureOut">
              <a:rPr lang="en-US" smtClean="0"/>
              <a:t>2/28/2018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0B43A-1604-4954-99B5-4F8C32259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67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C931D-1F74-4534-B571-BABA4CC2A47B}" type="datetimeFigureOut">
              <a:rPr lang="en-US" smtClean="0"/>
              <a:t>2/28/2018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0B43A-1604-4954-99B5-4F8C32259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713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AFC931D-1F74-4534-B571-BABA4CC2A47B}" type="datetimeFigureOut">
              <a:rPr lang="en-US" smtClean="0"/>
              <a:t>2/28/2018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220B43A-1604-4954-99B5-4F8C3225966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5668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3713" y="-1783080"/>
            <a:ext cx="10058400" cy="3566160"/>
          </a:xfrm>
        </p:spPr>
        <p:txBody>
          <a:bodyPr/>
          <a:lstStyle/>
          <a:p>
            <a:pPr algn="ctr"/>
            <a:r>
              <a:rPr lang="en-US" dirty="0" err="1" smtClean="0">
                <a:solidFill>
                  <a:srgbClr val="002060"/>
                </a:solidFill>
              </a:rPr>
              <a:t>SAFe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5337" y="2766863"/>
            <a:ext cx="10058400" cy="1143000"/>
          </a:xfrm>
        </p:spPr>
        <p:txBody>
          <a:bodyPr/>
          <a:lstStyle/>
          <a:p>
            <a:pPr algn="ctr"/>
            <a:r>
              <a:rPr lang="en-US" dirty="0" smtClean="0"/>
              <a:t>(Scaled agile framework)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71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0"/>
            <a:ext cx="10058400" cy="1450757"/>
          </a:xfrm>
        </p:spPr>
        <p:txBody>
          <a:bodyPr/>
          <a:lstStyle/>
          <a:p>
            <a:pPr algn="ctr"/>
            <a:r>
              <a:rPr lang="en-US" dirty="0" err="1" smtClean="0">
                <a:solidFill>
                  <a:srgbClr val="002060"/>
                </a:solidFill>
              </a:rPr>
              <a:t>SAFe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78686"/>
            <a:ext cx="10058400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 </a:t>
            </a:r>
            <a:r>
              <a:rPr lang="en-US" sz="2400" dirty="0" err="1" smtClean="0"/>
              <a:t>SAFe</a:t>
            </a:r>
            <a:r>
              <a:rPr lang="en-US" sz="2400" dirty="0" smtClean="0"/>
              <a:t> is an agile framework for software development. It provides simple, lightweight experience for the development team. The whole framework is divided into </a:t>
            </a:r>
            <a:r>
              <a:rPr lang="en-US" sz="2400" b="1" dirty="0" smtClean="0"/>
              <a:t>four </a:t>
            </a:r>
            <a:r>
              <a:rPr lang="en-US" sz="2400" dirty="0" smtClean="0"/>
              <a:t>segments </a:t>
            </a:r>
            <a:r>
              <a:rPr lang="en-US" sz="2400" b="1" dirty="0" smtClean="0"/>
              <a:t>Portfolio, Value stream, </a:t>
            </a:r>
            <a:r>
              <a:rPr lang="en-US" sz="2400" b="1" dirty="0" smtClean="0"/>
              <a:t>Program </a:t>
            </a:r>
            <a:r>
              <a:rPr lang="en-US" sz="2400" dirty="0" smtClean="0"/>
              <a:t>and </a:t>
            </a:r>
            <a:r>
              <a:rPr lang="en-US" sz="2400" b="1" dirty="0" smtClean="0"/>
              <a:t>Team.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/>
              <a:t> </a:t>
            </a:r>
            <a:r>
              <a:rPr lang="en-US" sz="2400" dirty="0" smtClean="0"/>
              <a:t>Version 1.0 was the first official release in 2011. The latest version is 4.0, was released in January 2016.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/>
              <a:t> </a:t>
            </a:r>
            <a:r>
              <a:rPr lang="en-US" sz="2400" dirty="0" smtClean="0"/>
              <a:t>It’s based on Lean and Agile principles.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/>
              <a:t> </a:t>
            </a:r>
            <a:r>
              <a:rPr lang="en-US" sz="2400" dirty="0" smtClean="0"/>
              <a:t>It’s designed to meet the needs of all stakeholders within an organization.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/>
              <a:t> </a:t>
            </a:r>
            <a:r>
              <a:rPr lang="en-US" sz="2400" dirty="0" smtClean="0"/>
              <a:t>It is Agile framework at its core, but can expand to fulfill the need of large system development.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38656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81449"/>
            <a:ext cx="10058400" cy="855911"/>
          </a:xfrm>
        </p:spPr>
        <p:txBody>
          <a:bodyPr>
            <a:normAutofit/>
          </a:bodyPr>
          <a:lstStyle/>
          <a:p>
            <a:pPr algn="ctr"/>
            <a:r>
              <a:rPr lang="en-US" sz="2800" dirty="0" smtClean="0">
                <a:solidFill>
                  <a:srgbClr val="002060"/>
                </a:solidFill>
              </a:rPr>
              <a:t>Isn’t simple Agile enough? Why </a:t>
            </a:r>
            <a:r>
              <a:rPr lang="en-US" sz="2800" dirty="0" err="1" smtClean="0">
                <a:solidFill>
                  <a:srgbClr val="002060"/>
                </a:solidFill>
              </a:rPr>
              <a:t>SAFe</a:t>
            </a:r>
            <a:r>
              <a:rPr lang="en-US" sz="2800" dirty="0" smtClean="0">
                <a:solidFill>
                  <a:srgbClr val="002060"/>
                </a:solidFill>
              </a:rPr>
              <a:t>?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 </a:t>
            </a:r>
            <a:r>
              <a:rPr lang="en-US" dirty="0" smtClean="0"/>
              <a:t>Well, let see what simple Agile offers?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736" y="2306337"/>
            <a:ext cx="3476625" cy="34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174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002060"/>
                </a:solidFill>
              </a:rPr>
              <a:t>Agile is 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</a:t>
            </a:r>
            <a:r>
              <a:rPr lang="en-US" dirty="0" smtClean="0">
                <a:solidFill>
                  <a:srgbClr val="00B050"/>
                </a:solidFill>
              </a:rPr>
              <a:t>Incremental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smtClean="0">
                <a:solidFill>
                  <a:srgbClr val="00B050"/>
                </a:solidFill>
              </a:rPr>
              <a:t>Customer feedback can be incorporated at any time.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smtClean="0">
                <a:solidFill>
                  <a:srgbClr val="00B050"/>
                </a:solidFill>
              </a:rPr>
              <a:t>1 – 4 weeks sprint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smtClean="0">
                <a:solidFill>
                  <a:srgbClr val="00B050"/>
                </a:solidFill>
              </a:rPr>
              <a:t>5 – 9 team members including developers, tester, Scrum master, Product owner and Tech lead.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smtClean="0">
                <a:solidFill>
                  <a:srgbClr val="00B050"/>
                </a:solidFill>
              </a:rPr>
              <a:t>Plan -&gt; Do -&gt; Check -&gt; Adjust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 smtClean="0">
                <a:solidFill>
                  <a:srgbClr val="00B050"/>
                </a:solidFill>
              </a:rPr>
              <a:t>Works fine for 5 – 7 teams</a:t>
            </a:r>
          </a:p>
          <a:p>
            <a:pPr marL="0" indent="0">
              <a:buNone/>
            </a:pP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But……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>
                <a:solidFill>
                  <a:srgbClr val="FF0000"/>
                </a:solidFill>
              </a:rPr>
              <a:t> when there are large number of teams running their own way of agile implementation but facing </a:t>
            </a:r>
            <a:r>
              <a:rPr lang="en-US" b="1" dirty="0" smtClean="0">
                <a:solidFill>
                  <a:srgbClr val="FF0000"/>
                </a:solidFill>
              </a:rPr>
              <a:t>obstacles, delays </a:t>
            </a:r>
            <a:r>
              <a:rPr lang="en-US" dirty="0" smtClean="0">
                <a:solidFill>
                  <a:srgbClr val="FF0000"/>
                </a:solidFill>
              </a:rPr>
              <a:t>and </a:t>
            </a:r>
            <a:r>
              <a:rPr lang="en-US" b="1" dirty="0" smtClean="0">
                <a:solidFill>
                  <a:srgbClr val="FF0000"/>
                </a:solidFill>
              </a:rPr>
              <a:t>failures.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when teams want to work independently.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when you want to scale Agile at organizational level but don’t know how?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00B050"/>
                </a:solidFill>
              </a:rPr>
              <a:t>Here comes </a:t>
            </a:r>
            <a:r>
              <a:rPr lang="en-US" b="1" dirty="0" err="1" smtClean="0">
                <a:solidFill>
                  <a:srgbClr val="00B050"/>
                </a:solidFill>
              </a:rPr>
              <a:t>SAFe</a:t>
            </a:r>
            <a:r>
              <a:rPr lang="en-US" b="1" dirty="0" smtClean="0">
                <a:solidFill>
                  <a:srgbClr val="00B050"/>
                </a:solidFill>
              </a:rPr>
              <a:t>(Scaled Agile Framework) to help us achieve the above </a:t>
            </a:r>
            <a:r>
              <a:rPr lang="en-US" b="1" dirty="0" err="1" smtClean="0">
                <a:solidFill>
                  <a:srgbClr val="00B050"/>
                </a:solidFill>
              </a:rPr>
              <a:t>obejctives</a:t>
            </a:r>
            <a:r>
              <a:rPr lang="en-US" b="1" dirty="0" smtClean="0">
                <a:solidFill>
                  <a:srgbClr val="00B050"/>
                </a:solidFill>
              </a:rPr>
              <a:t>.</a:t>
            </a:r>
            <a:endParaRPr 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303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720281" y="189470"/>
            <a:ext cx="1935892" cy="3871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Epic Owner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720281" y="642551"/>
            <a:ext cx="1935892" cy="3624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EA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56735" y="486032"/>
            <a:ext cx="1318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Portfolio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5029199" y="1927654"/>
            <a:ext cx="345989" cy="4448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5088924" y="2364260"/>
            <a:ext cx="609600" cy="82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 flipV="1">
            <a:off x="5375188" y="1956485"/>
            <a:ext cx="358346" cy="387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909750" y="1662840"/>
            <a:ext cx="9308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rgbClr val="002060"/>
                </a:solidFill>
              </a:rPr>
              <a:t>VSE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56735" y="1737721"/>
            <a:ext cx="10379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Value Stream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52319" y="2266208"/>
            <a:ext cx="1046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2060"/>
                </a:solidFill>
              </a:rPr>
              <a:t>SM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688227" y="2259172"/>
            <a:ext cx="10626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2060"/>
                </a:solidFill>
              </a:rPr>
              <a:t>SA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720281" y="3393989"/>
            <a:ext cx="673443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PM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5478162" y="3385751"/>
            <a:ext cx="634314" cy="3052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RTE</a:t>
            </a:r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6219567" y="3393989"/>
            <a:ext cx="436606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SA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4720281" y="3812004"/>
            <a:ext cx="1013253" cy="4283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Business owners</a:t>
            </a:r>
            <a:endParaRPr lang="en-US" dirty="0"/>
          </a:p>
        </p:txBody>
      </p:sp>
      <p:sp>
        <p:nvSpPr>
          <p:cNvPr id="23" name="Rectangle 22"/>
          <p:cNvSpPr/>
          <p:nvPr/>
        </p:nvSpPr>
        <p:spPr>
          <a:xfrm>
            <a:off x="5795319" y="3804968"/>
            <a:ext cx="860854" cy="4424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System</a:t>
            </a:r>
          </a:p>
          <a:p>
            <a:pPr algn="ctr"/>
            <a:r>
              <a:rPr lang="en-US" dirty="0" smtClean="0"/>
              <a:t>team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832021" y="3538352"/>
            <a:ext cx="1087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Program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 flipV="1">
            <a:off x="922638" y="1301578"/>
            <a:ext cx="9374659" cy="164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930876" y="2883751"/>
            <a:ext cx="9424086" cy="1032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922638" y="4604350"/>
            <a:ext cx="9555892" cy="80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30876" y="5346357"/>
            <a:ext cx="889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Team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169375" y="5259224"/>
            <a:ext cx="8876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2060"/>
                </a:solidFill>
              </a:rPr>
              <a:t>Scru</a:t>
            </a:r>
            <a:r>
              <a:rPr lang="en-US" sz="1600" dirty="0">
                <a:solidFill>
                  <a:srgbClr val="002060"/>
                </a:solidFill>
              </a:rPr>
              <a:t>m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 flipV="1">
            <a:off x="4909750" y="5082746"/>
            <a:ext cx="465438" cy="345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>
            <a:off x="4909750" y="5531023"/>
            <a:ext cx="483974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278393" y="4903117"/>
            <a:ext cx="5622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2060"/>
                </a:solidFill>
              </a:rPr>
              <a:t>SM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317524" y="5519150"/>
            <a:ext cx="7414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2060"/>
                </a:solidFill>
              </a:rPr>
              <a:t>PO</a:t>
            </a:r>
            <a:endParaRPr lang="en-US" sz="1600" dirty="0">
              <a:solidFill>
                <a:srgbClr val="002060"/>
              </a:solidFill>
            </a:endParaRP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5688226" y="5072394"/>
            <a:ext cx="424250" cy="273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V="1">
            <a:off x="5688226" y="5428501"/>
            <a:ext cx="424250" cy="2871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058929" y="5090789"/>
            <a:ext cx="14828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2060"/>
                </a:solidFill>
              </a:rPr>
              <a:t>Development team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020433" y="954218"/>
            <a:ext cx="2397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7030A0"/>
                </a:solidFill>
              </a:rPr>
              <a:t>EA – Enterprise architect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9020433" y="2188521"/>
            <a:ext cx="23395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7030A0"/>
                </a:solidFill>
              </a:rPr>
              <a:t>VSE – Value Stream Engineer</a:t>
            </a:r>
            <a:endParaRPr lang="en-US" sz="1400" dirty="0">
              <a:solidFill>
                <a:srgbClr val="7030A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041028" y="2407018"/>
            <a:ext cx="22983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7030A0"/>
                </a:solidFill>
              </a:rPr>
              <a:t>SM – Solution Management</a:t>
            </a:r>
            <a:endParaRPr lang="en-US" sz="1400" dirty="0">
              <a:solidFill>
                <a:srgbClr val="7030A0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041028" y="2639311"/>
            <a:ext cx="2183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7030A0"/>
                </a:solidFill>
              </a:rPr>
              <a:t>SA – Solution Architect</a:t>
            </a:r>
            <a:endParaRPr lang="en-US" sz="1400" dirty="0">
              <a:solidFill>
                <a:srgbClr val="7030A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135761" y="3881936"/>
            <a:ext cx="22036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7030A0"/>
                </a:solidFill>
              </a:rPr>
              <a:t>PM – Product Management</a:t>
            </a:r>
            <a:endParaRPr lang="en-US" sz="1400" dirty="0">
              <a:solidFill>
                <a:srgbClr val="7030A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119287" y="4114584"/>
            <a:ext cx="22983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7030A0"/>
                </a:solidFill>
              </a:rPr>
              <a:t>RTE – Release Train Engineer</a:t>
            </a:r>
            <a:endParaRPr lang="en-US" sz="1400" dirty="0">
              <a:solidFill>
                <a:srgbClr val="7030A0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119287" y="4332084"/>
            <a:ext cx="18617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7030A0"/>
                </a:solidFill>
              </a:rPr>
              <a:t>SA – System Architect</a:t>
            </a:r>
            <a:endParaRPr lang="en-US" sz="1400" dirty="0">
              <a:solidFill>
                <a:srgbClr val="7030A0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119287" y="5731916"/>
            <a:ext cx="25043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7030A0"/>
                </a:solidFill>
              </a:rPr>
              <a:t>SM – Scrum Master</a:t>
            </a:r>
            <a:endParaRPr lang="en-US" sz="1400" dirty="0">
              <a:solidFill>
                <a:srgbClr val="7030A0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9119287" y="5993937"/>
            <a:ext cx="1853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7030A0"/>
                </a:solidFill>
              </a:rPr>
              <a:t>PO – Product Owner</a:t>
            </a:r>
            <a:endParaRPr lang="en-US" sz="14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8774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6735" y="486032"/>
            <a:ext cx="1318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Portfolio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56735" y="1737721"/>
            <a:ext cx="10379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Value Stream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2021" y="3538352"/>
            <a:ext cx="1087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Program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30876" y="5346357"/>
            <a:ext cx="889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Team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4860324" y="246449"/>
            <a:ext cx="897925" cy="84849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>
            <a:stCxn id="6" idx="0"/>
          </p:cNvCxnSpPr>
          <p:nvPr/>
        </p:nvCxnSpPr>
        <p:spPr>
          <a:xfrm>
            <a:off x="5309287" y="246449"/>
            <a:ext cx="12356" cy="4242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6" idx="0"/>
          </p:cNvCxnSpPr>
          <p:nvPr/>
        </p:nvCxnSpPr>
        <p:spPr>
          <a:xfrm flipH="1">
            <a:off x="5309286" y="246449"/>
            <a:ext cx="1" cy="4242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403124" y="1807172"/>
            <a:ext cx="1837038" cy="1153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>
            <a:stCxn id="6" idx="4"/>
            <a:endCxn id="15" idx="0"/>
          </p:cNvCxnSpPr>
          <p:nvPr/>
        </p:nvCxnSpPr>
        <p:spPr>
          <a:xfrm>
            <a:off x="5309287" y="1094946"/>
            <a:ext cx="12356" cy="7122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558746" y="3476368"/>
            <a:ext cx="844378" cy="86497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50-125</a:t>
            </a:r>
            <a:endParaRPr lang="en-US" sz="1000" dirty="0"/>
          </a:p>
        </p:txBody>
      </p:sp>
      <p:sp>
        <p:nvSpPr>
          <p:cNvPr id="19" name="Oval 18"/>
          <p:cNvSpPr/>
          <p:nvPr/>
        </p:nvSpPr>
        <p:spPr>
          <a:xfrm>
            <a:off x="6495535" y="3475197"/>
            <a:ext cx="844378" cy="86497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/>
              <a:t>50-125</a:t>
            </a:r>
            <a:endParaRPr lang="en-US" sz="1000" dirty="0"/>
          </a:p>
        </p:txBody>
      </p:sp>
      <p:cxnSp>
        <p:nvCxnSpPr>
          <p:cNvPr id="21" name="Straight Connector 20"/>
          <p:cNvCxnSpPr>
            <a:endCxn id="18" idx="7"/>
          </p:cNvCxnSpPr>
          <p:nvPr/>
        </p:nvCxnSpPr>
        <p:spPr>
          <a:xfrm flipH="1">
            <a:off x="4279468" y="2866768"/>
            <a:ext cx="580856" cy="7362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endCxn id="19" idx="1"/>
          </p:cNvCxnSpPr>
          <p:nvPr/>
        </p:nvCxnSpPr>
        <p:spPr>
          <a:xfrm>
            <a:off x="5848865" y="2850514"/>
            <a:ext cx="770326" cy="7513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2561968" y="5346357"/>
            <a:ext cx="469556" cy="47779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smtClean="0"/>
              <a:t>5-9</a:t>
            </a:r>
            <a:endParaRPr lang="en-US" sz="800" dirty="0"/>
          </a:p>
        </p:txBody>
      </p:sp>
      <p:cxnSp>
        <p:nvCxnSpPr>
          <p:cNvPr id="34" name="Straight Connector 33"/>
          <p:cNvCxnSpPr>
            <a:stCxn id="18" idx="3"/>
            <a:endCxn id="24" idx="0"/>
          </p:cNvCxnSpPr>
          <p:nvPr/>
        </p:nvCxnSpPr>
        <p:spPr>
          <a:xfrm flipH="1">
            <a:off x="2796746" y="4214669"/>
            <a:ext cx="885656" cy="1131688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>
            <a:off x="6038335" y="4289762"/>
            <a:ext cx="801263" cy="1056595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>
            <a:off x="3433253" y="4338696"/>
            <a:ext cx="442783" cy="1006187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18" idx="4"/>
          </p:cNvCxnSpPr>
          <p:nvPr/>
        </p:nvCxnSpPr>
        <p:spPr>
          <a:xfrm>
            <a:off x="3980935" y="4341341"/>
            <a:ext cx="26773" cy="1009135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4184910" y="4289762"/>
            <a:ext cx="397388" cy="1056595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19" idx="4"/>
          </p:cNvCxnSpPr>
          <p:nvPr/>
        </p:nvCxnSpPr>
        <p:spPr>
          <a:xfrm flipH="1">
            <a:off x="6730313" y="4340170"/>
            <a:ext cx="187411" cy="1006187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7113462" y="4306416"/>
            <a:ext cx="263521" cy="1039941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19" idx="5"/>
          </p:cNvCxnSpPr>
          <p:nvPr/>
        </p:nvCxnSpPr>
        <p:spPr>
          <a:xfrm>
            <a:off x="7216257" y="4213498"/>
            <a:ext cx="807396" cy="1132859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3174711" y="5344883"/>
            <a:ext cx="469556" cy="47779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smtClean="0"/>
              <a:t>5-9</a:t>
            </a:r>
            <a:endParaRPr lang="en-US" sz="800" dirty="0"/>
          </a:p>
        </p:txBody>
      </p:sp>
      <p:sp>
        <p:nvSpPr>
          <p:cNvPr id="59" name="Oval 58"/>
          <p:cNvSpPr/>
          <p:nvPr/>
        </p:nvSpPr>
        <p:spPr>
          <a:xfrm>
            <a:off x="3762743" y="5344883"/>
            <a:ext cx="469556" cy="47779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smtClean="0"/>
              <a:t>5-9</a:t>
            </a:r>
            <a:endParaRPr lang="en-US" sz="800" dirty="0"/>
          </a:p>
        </p:txBody>
      </p:sp>
      <p:sp>
        <p:nvSpPr>
          <p:cNvPr id="60" name="Oval 59"/>
          <p:cNvSpPr/>
          <p:nvPr/>
        </p:nvSpPr>
        <p:spPr>
          <a:xfrm>
            <a:off x="4355845" y="5344883"/>
            <a:ext cx="469556" cy="47779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smtClean="0"/>
              <a:t>5-9</a:t>
            </a:r>
            <a:endParaRPr lang="en-US" sz="800" dirty="0"/>
          </a:p>
        </p:txBody>
      </p:sp>
      <p:sp>
        <p:nvSpPr>
          <p:cNvPr id="61" name="Oval 60"/>
          <p:cNvSpPr/>
          <p:nvPr/>
        </p:nvSpPr>
        <p:spPr>
          <a:xfrm>
            <a:off x="5786051" y="5355767"/>
            <a:ext cx="469556" cy="47779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smtClean="0"/>
              <a:t>5-9</a:t>
            </a:r>
            <a:endParaRPr lang="en-US" sz="800" dirty="0"/>
          </a:p>
        </p:txBody>
      </p:sp>
      <p:sp>
        <p:nvSpPr>
          <p:cNvPr id="62" name="Oval 61"/>
          <p:cNvSpPr/>
          <p:nvPr/>
        </p:nvSpPr>
        <p:spPr>
          <a:xfrm>
            <a:off x="6495535" y="5358412"/>
            <a:ext cx="469556" cy="47779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smtClean="0"/>
              <a:t>5-9</a:t>
            </a:r>
            <a:endParaRPr lang="en-US" sz="800" dirty="0"/>
          </a:p>
        </p:txBody>
      </p:sp>
      <p:sp>
        <p:nvSpPr>
          <p:cNvPr id="63" name="Oval 62"/>
          <p:cNvSpPr/>
          <p:nvPr/>
        </p:nvSpPr>
        <p:spPr>
          <a:xfrm>
            <a:off x="7164903" y="5344883"/>
            <a:ext cx="469556" cy="47779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smtClean="0"/>
              <a:t>5-9</a:t>
            </a:r>
            <a:endParaRPr lang="en-US" sz="800" dirty="0"/>
          </a:p>
        </p:txBody>
      </p:sp>
      <p:sp>
        <p:nvSpPr>
          <p:cNvPr id="64" name="Oval 63"/>
          <p:cNvSpPr/>
          <p:nvPr/>
        </p:nvSpPr>
        <p:spPr>
          <a:xfrm>
            <a:off x="7862927" y="5352663"/>
            <a:ext cx="469556" cy="47779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smtClean="0"/>
              <a:t>5-9</a:t>
            </a:r>
            <a:endParaRPr lang="en-US" sz="800" dirty="0"/>
          </a:p>
        </p:txBody>
      </p:sp>
      <p:pic>
        <p:nvPicPr>
          <p:cNvPr id="67" name="Picture 6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9681" y="3538352"/>
            <a:ext cx="1511644" cy="539310"/>
          </a:xfrm>
          <a:prstGeom prst="rect">
            <a:avLst/>
          </a:prstGeom>
        </p:spPr>
      </p:pic>
      <p:pic>
        <p:nvPicPr>
          <p:cNvPr id="68" name="Picture 6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9621" y="3572367"/>
            <a:ext cx="1511644" cy="539310"/>
          </a:xfrm>
          <a:prstGeom prst="rect">
            <a:avLst/>
          </a:prstGeom>
        </p:spPr>
      </p:pic>
      <p:pic>
        <p:nvPicPr>
          <p:cNvPr id="69" name="Picture 6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1282" y="2469010"/>
            <a:ext cx="1511644" cy="539310"/>
          </a:xfrm>
          <a:prstGeom prst="rect">
            <a:avLst/>
          </a:prstGeom>
        </p:spPr>
      </p:pic>
      <p:pic>
        <p:nvPicPr>
          <p:cNvPr id="70" name="Picture 6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1282" y="1903922"/>
            <a:ext cx="1511644" cy="53931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5709917" y="440726"/>
            <a:ext cx="145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7030A0"/>
                </a:solidFill>
              </a:rPr>
              <a:t>$ $ $</a:t>
            </a:r>
            <a:endParaRPr 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0105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51935" y="304800"/>
            <a:ext cx="2792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7030A0"/>
                </a:solidFill>
              </a:rPr>
              <a:t>Team Level</a:t>
            </a:r>
            <a:endParaRPr lang="en-US" dirty="0">
              <a:solidFill>
                <a:srgbClr val="7030A0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470173"/>
              </p:ext>
            </p:extLst>
          </p:nvPr>
        </p:nvGraphicFramePr>
        <p:xfrm>
          <a:off x="705708" y="933852"/>
          <a:ext cx="10967307" cy="4634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5769"/>
                <a:gridCol w="3655769"/>
                <a:gridCol w="3655769"/>
              </a:tblGrid>
              <a:tr h="46349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Roles/Teams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Events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Artifacts</a:t>
                      </a:r>
                      <a:endParaRPr lang="en-US" dirty="0"/>
                    </a:p>
                  </a:txBody>
                  <a:tcPr/>
                </a:tc>
              </a:tr>
              <a:tr h="463493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Agile team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Sprint</a:t>
                      </a:r>
                      <a:r>
                        <a:rPr lang="en-US" baseline="0" dirty="0" smtClean="0">
                          <a:solidFill>
                            <a:srgbClr val="7030A0"/>
                          </a:solidFill>
                        </a:rPr>
                        <a:t> planning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Team backlog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463493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Product</a:t>
                      </a:r>
                      <a:r>
                        <a:rPr lang="en-US" baseline="0" dirty="0" smtClean="0">
                          <a:solidFill>
                            <a:srgbClr val="7030A0"/>
                          </a:solidFill>
                        </a:rPr>
                        <a:t> owner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Backlog - grooming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Non – functional requirements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463493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Scrum master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Daily stand</a:t>
                      </a:r>
                      <a:r>
                        <a:rPr lang="en-US" baseline="0" dirty="0" smtClean="0">
                          <a:solidFill>
                            <a:srgbClr val="7030A0"/>
                          </a:solidFill>
                        </a:rPr>
                        <a:t> - ups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Team PI objectives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46349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Execution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Iterations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46349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Sprint demo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Stories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46349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Sprint retrospective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Sprint goals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46349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IP sprints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Built</a:t>
                      </a:r>
                      <a:r>
                        <a:rPr lang="en-US" baseline="0" dirty="0" smtClean="0">
                          <a:solidFill>
                            <a:srgbClr val="7030A0"/>
                          </a:solidFill>
                        </a:rPr>
                        <a:t> – in quality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46349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Spikes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46349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Team </a:t>
                      </a:r>
                      <a:r>
                        <a:rPr lang="en-US" dirty="0" err="1" smtClean="0">
                          <a:solidFill>
                            <a:srgbClr val="7030A0"/>
                          </a:solidFill>
                        </a:rPr>
                        <a:t>kanban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8770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76649" y="148281"/>
            <a:ext cx="2792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7030A0"/>
                </a:solidFill>
              </a:rPr>
              <a:t>Program Level</a:t>
            </a:r>
            <a:endParaRPr lang="en-US" dirty="0">
              <a:solidFill>
                <a:srgbClr val="7030A0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8737269"/>
              </p:ext>
            </p:extLst>
          </p:nvPr>
        </p:nvGraphicFramePr>
        <p:xfrm>
          <a:off x="672756" y="612576"/>
          <a:ext cx="10967307" cy="55298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5769"/>
                <a:gridCol w="3655769"/>
                <a:gridCol w="3655769"/>
              </a:tblGrid>
              <a:tr h="42537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Roles/Teams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Events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Artifacts</a:t>
                      </a:r>
                      <a:endParaRPr lang="en-US" dirty="0"/>
                    </a:p>
                  </a:txBody>
                  <a:tcPr/>
                </a:tc>
              </a:tr>
              <a:tr h="42537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DevOps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PI (program increment)</a:t>
                      </a:r>
                      <a:r>
                        <a:rPr lang="en-US" baseline="0" dirty="0" smtClean="0">
                          <a:solidFill>
                            <a:srgbClr val="7030A0"/>
                          </a:solidFill>
                        </a:rPr>
                        <a:t> planning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Vision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42537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System Team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System</a:t>
                      </a:r>
                      <a:r>
                        <a:rPr lang="en-US" baseline="0" dirty="0" smtClean="0">
                          <a:solidFill>
                            <a:srgbClr val="7030A0"/>
                          </a:solidFill>
                        </a:rPr>
                        <a:t> Demos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Roadmap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42537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Release management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Inspect</a:t>
                      </a:r>
                      <a:r>
                        <a:rPr lang="en-US" baseline="0" dirty="0" smtClean="0">
                          <a:solidFill>
                            <a:srgbClr val="7030A0"/>
                          </a:solidFill>
                        </a:rPr>
                        <a:t> and adopt workshop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Milestones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42537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Product management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Architectural runway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Releases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42537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UEX architect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Release</a:t>
                      </a:r>
                      <a:r>
                        <a:rPr lang="en-US" baseline="0" dirty="0" smtClean="0">
                          <a:solidFill>
                            <a:srgbClr val="7030A0"/>
                          </a:solidFill>
                        </a:rPr>
                        <a:t> anytime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Program</a:t>
                      </a:r>
                      <a:r>
                        <a:rPr lang="en-US" baseline="0" dirty="0" smtClean="0">
                          <a:solidFill>
                            <a:srgbClr val="7030A0"/>
                          </a:solidFill>
                        </a:rPr>
                        <a:t> epics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42537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Release Train Engineer(RTE)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Agile Release Train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Program backlog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42537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System</a:t>
                      </a:r>
                      <a:r>
                        <a:rPr lang="en-US" baseline="0" dirty="0" smtClean="0">
                          <a:solidFill>
                            <a:srgbClr val="7030A0"/>
                          </a:solidFill>
                        </a:rPr>
                        <a:t> Architect/Engineer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Release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Non – functional requirements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42537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Business owners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Feature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42537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Lean</a:t>
                      </a:r>
                      <a:r>
                        <a:rPr lang="en-US" baseline="0" dirty="0" smtClean="0">
                          <a:solidFill>
                            <a:srgbClr val="7030A0"/>
                          </a:solidFill>
                        </a:rPr>
                        <a:t> – agile leaders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Enabler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42537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Communities of practice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Solution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42537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Shared services 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Value Stream Coordination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42537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Customer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Program PI objectives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1565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68410" y="123568"/>
            <a:ext cx="2792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7030A0"/>
                </a:solidFill>
              </a:rPr>
              <a:t>Value Stream Level</a:t>
            </a:r>
            <a:endParaRPr lang="en-US" dirty="0">
              <a:solidFill>
                <a:srgbClr val="7030A0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63841"/>
              </p:ext>
            </p:extLst>
          </p:nvPr>
        </p:nvGraphicFramePr>
        <p:xfrm>
          <a:off x="680994" y="492900"/>
          <a:ext cx="10967307" cy="52880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5769"/>
                <a:gridCol w="3655769"/>
                <a:gridCol w="3655769"/>
              </a:tblGrid>
              <a:tr h="40677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Roles/Teams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Events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Artifacts</a:t>
                      </a:r>
                      <a:endParaRPr lang="en-US" dirty="0"/>
                    </a:p>
                  </a:txBody>
                  <a:tcPr/>
                </a:tc>
              </a:tr>
              <a:tr h="40677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DevOps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Pre and Post</a:t>
                      </a:r>
                      <a:r>
                        <a:rPr lang="en-US" baseline="0" dirty="0" smtClean="0">
                          <a:solidFill>
                            <a:srgbClr val="7030A0"/>
                          </a:solidFill>
                        </a:rPr>
                        <a:t> PI planning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Vision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40677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System team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Solution Demos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Roadmap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40677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Release management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Inspect</a:t>
                      </a:r>
                      <a:r>
                        <a:rPr lang="en-US" baseline="0" dirty="0" smtClean="0">
                          <a:solidFill>
                            <a:srgbClr val="7030A0"/>
                          </a:solidFill>
                        </a:rPr>
                        <a:t> and adopt workshop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Milestone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40677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Solution</a:t>
                      </a:r>
                      <a:r>
                        <a:rPr lang="en-US" baseline="0" dirty="0" smtClean="0">
                          <a:solidFill>
                            <a:srgbClr val="7030A0"/>
                          </a:solidFill>
                        </a:rPr>
                        <a:t> management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Agile Release</a:t>
                      </a:r>
                      <a:r>
                        <a:rPr lang="en-US" baseline="0" dirty="0" smtClean="0">
                          <a:solidFill>
                            <a:srgbClr val="7030A0"/>
                          </a:solidFill>
                        </a:rPr>
                        <a:t> train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Releases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40677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UEX</a:t>
                      </a:r>
                      <a:r>
                        <a:rPr lang="en-US" baseline="0" dirty="0" smtClean="0">
                          <a:solidFill>
                            <a:srgbClr val="7030A0"/>
                          </a:solidFill>
                        </a:rPr>
                        <a:t> architect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Value stream epics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40677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Release</a:t>
                      </a:r>
                      <a:r>
                        <a:rPr lang="en-US" baseline="0" dirty="0" smtClean="0">
                          <a:solidFill>
                            <a:srgbClr val="7030A0"/>
                          </a:solidFill>
                        </a:rPr>
                        <a:t> Train Engineer (RTE)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Value stream</a:t>
                      </a:r>
                      <a:r>
                        <a:rPr lang="en-US" baseline="0" dirty="0" smtClean="0">
                          <a:solidFill>
                            <a:srgbClr val="7030A0"/>
                          </a:solidFill>
                        </a:rPr>
                        <a:t> backlog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40677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Solution Architect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Non – functional requirements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40677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Shared services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Capability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40677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Customer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Enabler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40677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Supplier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Solution context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40677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Agile</a:t>
                      </a:r>
                      <a:r>
                        <a:rPr lang="en-US" baseline="0" dirty="0" smtClean="0">
                          <a:solidFill>
                            <a:srgbClr val="7030A0"/>
                          </a:solidFill>
                        </a:rPr>
                        <a:t> architecture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406774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Economic framework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7850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51935" y="304800"/>
            <a:ext cx="2792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7030A0"/>
                </a:solidFill>
              </a:rPr>
              <a:t>Portfolio Level</a:t>
            </a:r>
            <a:endParaRPr lang="en-US" dirty="0">
              <a:solidFill>
                <a:srgbClr val="7030A0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834411"/>
              </p:ext>
            </p:extLst>
          </p:nvPr>
        </p:nvGraphicFramePr>
        <p:xfrm>
          <a:off x="705708" y="933852"/>
          <a:ext cx="10967307" cy="41714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5769"/>
                <a:gridCol w="3655769"/>
                <a:gridCol w="3655769"/>
              </a:tblGrid>
              <a:tr h="463493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Roles/Teams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Events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Artifacts</a:t>
                      </a:r>
                      <a:endParaRPr lang="en-US" dirty="0"/>
                    </a:p>
                  </a:txBody>
                  <a:tcPr/>
                </a:tc>
              </a:tr>
              <a:tr h="463493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Enterprise</a:t>
                      </a:r>
                      <a:r>
                        <a:rPr lang="en-US" baseline="0" dirty="0" smtClean="0">
                          <a:solidFill>
                            <a:srgbClr val="7030A0"/>
                          </a:solidFill>
                        </a:rPr>
                        <a:t> architect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Strategic</a:t>
                      </a:r>
                      <a:r>
                        <a:rPr lang="en-US" baseline="0" dirty="0" smtClean="0">
                          <a:solidFill>
                            <a:srgbClr val="7030A0"/>
                          </a:solidFill>
                        </a:rPr>
                        <a:t> investment planning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Strategic themes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463493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Program portfolio mgmt.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Kanban portfolio (Epic) planning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Enterprise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463493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Epic owners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Portfolio</a:t>
                      </a:r>
                      <a:r>
                        <a:rPr lang="en-US" baseline="0" dirty="0" smtClean="0">
                          <a:solidFill>
                            <a:srgbClr val="7030A0"/>
                          </a:solidFill>
                        </a:rPr>
                        <a:t> backlog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46349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Portfolio Kanban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46349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Non</a:t>
                      </a:r>
                      <a:r>
                        <a:rPr lang="en-US" baseline="0" dirty="0" smtClean="0">
                          <a:solidFill>
                            <a:srgbClr val="7030A0"/>
                          </a:solidFill>
                        </a:rPr>
                        <a:t> – functional requirements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46349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Epic and</a:t>
                      </a:r>
                      <a:r>
                        <a:rPr lang="en-US" baseline="0" dirty="0" smtClean="0">
                          <a:solidFill>
                            <a:srgbClr val="7030A0"/>
                          </a:solidFill>
                        </a:rPr>
                        <a:t> enabler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46349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Value stream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  <a:tr h="46349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smtClean="0">
                          <a:solidFill>
                            <a:srgbClr val="7030A0"/>
                          </a:solidFill>
                        </a:rPr>
                        <a:t>Budgets</a:t>
                      </a:r>
                      <a:endParaRPr lang="en-US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9166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2637" y="2846373"/>
            <a:ext cx="1087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Program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21492" y="4654378"/>
            <a:ext cx="889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Team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3624649" y="2907957"/>
            <a:ext cx="16475" cy="2115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H="1">
            <a:off x="7344034" y="2907956"/>
            <a:ext cx="16475" cy="21157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374291" y="3904735"/>
            <a:ext cx="0" cy="11189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136292" y="3904735"/>
            <a:ext cx="0" cy="11189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606746" y="3904735"/>
            <a:ext cx="0" cy="11189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852983" y="3904735"/>
            <a:ext cx="0" cy="11189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3632886" y="2846373"/>
            <a:ext cx="372762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82746" y="2630957"/>
            <a:ext cx="8567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7030A0"/>
                </a:solidFill>
              </a:rPr>
              <a:t>(</a:t>
            </a:r>
            <a:r>
              <a:rPr lang="en-US" sz="1200" dirty="0" smtClean="0">
                <a:solidFill>
                  <a:srgbClr val="7030A0"/>
                </a:solidFill>
              </a:rPr>
              <a:t>10 weeks)</a:t>
            </a: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727620" y="2507834"/>
            <a:ext cx="362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7030A0"/>
                </a:solidFill>
              </a:rPr>
              <a:t>PI</a:t>
            </a:r>
            <a:endParaRPr lang="en-US" dirty="0">
              <a:solidFill>
                <a:srgbClr val="7030A0"/>
              </a:solidFill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4374291" y="3904735"/>
            <a:ext cx="76200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433209" y="3704222"/>
            <a:ext cx="64953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>
                <a:solidFill>
                  <a:srgbClr val="7030A0"/>
                </a:solidFill>
              </a:rPr>
              <a:t>2 weeks</a:t>
            </a:r>
            <a:endParaRPr lang="en-US" sz="1100" dirty="0">
              <a:solidFill>
                <a:srgbClr val="7030A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918357" y="4839044"/>
            <a:ext cx="19037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mtClean="0">
                <a:solidFill>
                  <a:srgbClr val="0070C0"/>
                </a:solidFill>
              </a:rPr>
              <a:t>PI – Program Increment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692482" y="395416"/>
            <a:ext cx="19538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7030A0"/>
                </a:solidFill>
              </a:rPr>
              <a:t>Time boxing</a:t>
            </a:r>
            <a:endParaRPr lang="en-US" sz="28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7260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6735" y="486032"/>
            <a:ext cx="1318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Portfolio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56735" y="1737721"/>
            <a:ext cx="10379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Value Stream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2021" y="3538352"/>
            <a:ext cx="1087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Program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30876" y="5346357"/>
            <a:ext cx="889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Team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74789" y="332145"/>
            <a:ext cx="16640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7030A0"/>
                </a:solidFill>
              </a:rPr>
              <a:t>Organizational Strategy </a:t>
            </a:r>
            <a:endParaRPr lang="en-US" sz="1400" dirty="0">
              <a:solidFill>
                <a:srgbClr val="7030A0"/>
              </a:solidFill>
            </a:endParaRPr>
          </a:p>
        </p:txBody>
      </p:sp>
      <p:cxnSp>
        <p:nvCxnSpPr>
          <p:cNvPr id="8" name="Elbow Connector 7"/>
          <p:cNvCxnSpPr/>
          <p:nvPr/>
        </p:nvCxnSpPr>
        <p:spPr>
          <a:xfrm>
            <a:off x="2932673" y="783857"/>
            <a:ext cx="1081897" cy="34735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007499"/>
              </p:ext>
            </p:extLst>
          </p:nvPr>
        </p:nvGraphicFramePr>
        <p:xfrm>
          <a:off x="4025551" y="40238"/>
          <a:ext cx="823609" cy="1630252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23609"/>
              </a:tblGrid>
              <a:tr h="449366"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rgbClr val="00B050"/>
                          </a:solidFill>
                        </a:rPr>
                        <a:t>EPIC</a:t>
                      </a:r>
                      <a:endParaRPr lang="en-US" b="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</a:tr>
              <a:tr h="4493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smtClean="0">
                          <a:solidFill>
                            <a:srgbClr val="00B050"/>
                          </a:solidFill>
                        </a:rPr>
                        <a:t>EPIC</a:t>
                      </a:r>
                    </a:p>
                  </a:txBody>
                  <a:tcPr/>
                </a:tc>
              </a:tr>
              <a:tr h="2567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2567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 rot="16200000">
            <a:off x="4316941" y="623024"/>
            <a:ext cx="12815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7030A0"/>
                </a:solidFill>
              </a:rPr>
              <a:t>Portfolio backlog</a:t>
            </a:r>
            <a:endParaRPr lang="en-US" sz="1200" dirty="0">
              <a:solidFill>
                <a:srgbClr val="7030A0"/>
              </a:solidFill>
            </a:endParaRPr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999381"/>
              </p:ext>
            </p:extLst>
          </p:nvPr>
        </p:nvGraphicFramePr>
        <p:xfrm>
          <a:off x="4025549" y="40238"/>
          <a:ext cx="823609" cy="1630252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23609"/>
              </a:tblGrid>
              <a:tr h="449366"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rgbClr val="00B050"/>
                          </a:solidFill>
                        </a:rPr>
                        <a:t>EPIC</a:t>
                      </a:r>
                      <a:endParaRPr lang="en-US" b="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</a:tr>
              <a:tr h="4493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 smtClean="0">
                          <a:solidFill>
                            <a:srgbClr val="00B050"/>
                          </a:solidFill>
                        </a:rPr>
                        <a:t>EPIC</a:t>
                      </a:r>
                    </a:p>
                  </a:txBody>
                  <a:tcPr/>
                </a:tc>
              </a:tr>
              <a:tr h="2567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25678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4929354"/>
              </p:ext>
            </p:extLst>
          </p:nvPr>
        </p:nvGraphicFramePr>
        <p:xfrm>
          <a:off x="5807676" y="1482809"/>
          <a:ext cx="875956" cy="1495752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75956"/>
              </a:tblGrid>
              <a:tr h="371584">
                <a:tc>
                  <a:txBody>
                    <a:bodyPr/>
                    <a:lstStyle/>
                    <a:p>
                      <a:r>
                        <a:rPr lang="en-US" sz="1100" dirty="0" smtClean="0">
                          <a:solidFill>
                            <a:srgbClr val="00B050"/>
                          </a:solidFill>
                        </a:rPr>
                        <a:t>Capabilities</a:t>
                      </a:r>
                      <a:endParaRPr lang="en-US" sz="11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</a:tr>
              <a:tr h="3715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>
                          <a:solidFill>
                            <a:srgbClr val="00B050"/>
                          </a:solidFill>
                        </a:rPr>
                        <a:t>Capabilities</a:t>
                      </a:r>
                    </a:p>
                    <a:p>
                      <a:endParaRPr lang="en-US" sz="800" dirty="0"/>
                    </a:p>
                  </a:txBody>
                  <a:tcPr/>
                </a:tc>
              </a:tr>
              <a:tr h="37158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158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0" name="Elbow Connector 29"/>
          <p:cNvCxnSpPr/>
          <p:nvPr/>
        </p:nvCxnSpPr>
        <p:spPr>
          <a:xfrm>
            <a:off x="4849158" y="1482809"/>
            <a:ext cx="958518" cy="57807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 rot="16200000">
            <a:off x="6065129" y="2083059"/>
            <a:ext cx="15140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7030A0"/>
                </a:solidFill>
              </a:rPr>
              <a:t>Value stream backlog</a:t>
            </a:r>
            <a:endParaRPr lang="en-US" sz="1200" dirty="0">
              <a:solidFill>
                <a:srgbClr val="7030A0"/>
              </a:solidFill>
            </a:endParaRPr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066427"/>
              </p:ext>
            </p:extLst>
          </p:nvPr>
        </p:nvGraphicFramePr>
        <p:xfrm>
          <a:off x="4035070" y="2884617"/>
          <a:ext cx="804565" cy="13817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4565"/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dirty="0" smtClean="0">
                          <a:solidFill>
                            <a:srgbClr val="00B050"/>
                          </a:solidFill>
                        </a:rPr>
                        <a:t>Feature</a:t>
                      </a:r>
                      <a:endParaRPr lang="en-US" sz="12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>
                          <a:solidFill>
                            <a:srgbClr val="00B050"/>
                          </a:solidFill>
                        </a:rPr>
                        <a:t>Feature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5686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8" name="Elbow Connector 37"/>
          <p:cNvCxnSpPr>
            <a:endCxn id="32" idx="0"/>
          </p:cNvCxnSpPr>
          <p:nvPr/>
        </p:nvCxnSpPr>
        <p:spPr>
          <a:xfrm rot="10800000" flipV="1">
            <a:off x="4437353" y="2384051"/>
            <a:ext cx="1370333" cy="50056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 rot="16200000">
            <a:off x="4342424" y="3344949"/>
            <a:ext cx="12305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7030A0"/>
                </a:solidFill>
              </a:rPr>
              <a:t>Program backlog</a:t>
            </a: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245654" y="3966940"/>
            <a:ext cx="931218" cy="4238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PI Plan</a:t>
            </a:r>
            <a:endParaRPr lang="en-US" dirty="0"/>
          </a:p>
        </p:txBody>
      </p:sp>
      <p:cxnSp>
        <p:nvCxnSpPr>
          <p:cNvPr id="50" name="Straight Arrow Connector 49"/>
          <p:cNvCxnSpPr>
            <a:endCxn id="48" idx="1"/>
          </p:cNvCxnSpPr>
          <p:nvPr/>
        </p:nvCxnSpPr>
        <p:spPr>
          <a:xfrm>
            <a:off x="4819220" y="4178854"/>
            <a:ext cx="14264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3881820" y="5345672"/>
            <a:ext cx="897925" cy="5025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PI Objective</a:t>
            </a:r>
            <a:endParaRPr lang="en-US" sz="1400" dirty="0"/>
          </a:p>
        </p:txBody>
      </p:sp>
      <p:sp>
        <p:nvSpPr>
          <p:cNvPr id="53" name="Rectangle 52"/>
          <p:cNvSpPr/>
          <p:nvPr/>
        </p:nvSpPr>
        <p:spPr>
          <a:xfrm>
            <a:off x="8452022" y="5346357"/>
            <a:ext cx="926066" cy="5025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PI Objective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43135" y="5354595"/>
            <a:ext cx="903587" cy="5025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PI Objective</a:t>
            </a:r>
          </a:p>
        </p:txBody>
      </p:sp>
      <p:cxnSp>
        <p:nvCxnSpPr>
          <p:cNvPr id="58" name="Straight Arrow Connector 57"/>
          <p:cNvCxnSpPr>
            <a:stCxn id="48" idx="2"/>
            <a:endCxn id="54" idx="0"/>
          </p:cNvCxnSpPr>
          <p:nvPr/>
        </p:nvCxnSpPr>
        <p:spPr>
          <a:xfrm>
            <a:off x="6711263" y="4390768"/>
            <a:ext cx="83666" cy="9638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endCxn id="53" idx="0"/>
          </p:cNvCxnSpPr>
          <p:nvPr/>
        </p:nvCxnSpPr>
        <p:spPr>
          <a:xfrm>
            <a:off x="6960631" y="4390768"/>
            <a:ext cx="1954424" cy="955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>
            <a:endCxn id="51" idx="0"/>
          </p:cNvCxnSpPr>
          <p:nvPr/>
        </p:nvCxnSpPr>
        <p:spPr>
          <a:xfrm flipH="1">
            <a:off x="4330783" y="4390768"/>
            <a:ext cx="2012352" cy="954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3234507" y="5131487"/>
            <a:ext cx="535460" cy="9997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Connector 71"/>
          <p:cNvCxnSpPr/>
          <p:nvPr/>
        </p:nvCxnSpPr>
        <p:spPr>
          <a:xfrm>
            <a:off x="3234507" y="5316153"/>
            <a:ext cx="5354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3234507" y="5517980"/>
            <a:ext cx="5354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3234507" y="5719807"/>
            <a:ext cx="5354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3234507" y="5925345"/>
            <a:ext cx="5354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5679476" y="5120372"/>
            <a:ext cx="535460" cy="9997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Connector 76"/>
          <p:cNvCxnSpPr/>
          <p:nvPr/>
        </p:nvCxnSpPr>
        <p:spPr>
          <a:xfrm>
            <a:off x="5679476" y="5305038"/>
            <a:ext cx="5354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>
            <a:off x="5679476" y="5506865"/>
            <a:ext cx="5354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5679476" y="5708692"/>
            <a:ext cx="5354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5679476" y="5914230"/>
            <a:ext cx="5354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7774587" y="5131487"/>
            <a:ext cx="535460" cy="9997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2" name="Straight Connector 81"/>
          <p:cNvCxnSpPr/>
          <p:nvPr/>
        </p:nvCxnSpPr>
        <p:spPr>
          <a:xfrm>
            <a:off x="7774587" y="5316153"/>
            <a:ext cx="5354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7774587" y="5517980"/>
            <a:ext cx="5354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7774587" y="5719807"/>
            <a:ext cx="5354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7774587" y="5925345"/>
            <a:ext cx="53546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 rot="16200000">
            <a:off x="7179989" y="5538854"/>
            <a:ext cx="9717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>
                <a:solidFill>
                  <a:srgbClr val="7030A0"/>
                </a:solidFill>
              </a:rPr>
              <a:t>Team backlog</a:t>
            </a:r>
            <a:endParaRPr lang="en-US" sz="1100" dirty="0">
              <a:solidFill>
                <a:srgbClr val="7030A0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 rot="16200000">
            <a:off x="2627023" y="5489462"/>
            <a:ext cx="9717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>
                <a:solidFill>
                  <a:srgbClr val="7030A0"/>
                </a:solidFill>
              </a:rPr>
              <a:t>Team backlog</a:t>
            </a:r>
            <a:endParaRPr lang="en-US" sz="1100" dirty="0">
              <a:solidFill>
                <a:srgbClr val="7030A0"/>
              </a:solidFill>
            </a:endParaRPr>
          </a:p>
        </p:txBody>
      </p:sp>
      <p:sp>
        <p:nvSpPr>
          <p:cNvPr id="88" name="TextBox 87"/>
          <p:cNvSpPr txBox="1"/>
          <p:nvPr/>
        </p:nvSpPr>
        <p:spPr>
          <a:xfrm rot="16200000">
            <a:off x="5052112" y="5514603"/>
            <a:ext cx="97174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>
                <a:solidFill>
                  <a:srgbClr val="7030A0"/>
                </a:solidFill>
              </a:rPr>
              <a:t>Team backlog</a:t>
            </a:r>
            <a:endParaRPr lang="en-US" sz="11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5020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/>
          <p:cNvSpPr txBox="1"/>
          <p:nvPr/>
        </p:nvSpPr>
        <p:spPr>
          <a:xfrm>
            <a:off x="3784751" y="337751"/>
            <a:ext cx="39669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 err="1" smtClean="0">
                <a:solidFill>
                  <a:srgbClr val="C00000"/>
                </a:solidFill>
              </a:rPr>
              <a:t>SAFe</a:t>
            </a:r>
            <a:r>
              <a:rPr lang="en-US" sz="3200" dirty="0" smtClean="0">
                <a:solidFill>
                  <a:srgbClr val="C00000"/>
                </a:solidFill>
              </a:rPr>
              <a:t> recommendation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55589" y="1614616"/>
            <a:ext cx="1019844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 smtClean="0">
                <a:solidFill>
                  <a:srgbClr val="7030A0"/>
                </a:solidFill>
              </a:rPr>
              <a:t>Continuous collaboration between Program management and Scrum masters (scrum of scrum) or product owners to remove any obstacles.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 smtClean="0">
                <a:solidFill>
                  <a:srgbClr val="7030A0"/>
                </a:solidFill>
              </a:rPr>
              <a:t>At the end of every two week sprint, system integration will be done to make a demo-able working software.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 smtClean="0">
                <a:solidFill>
                  <a:srgbClr val="7030A0"/>
                </a:solidFill>
              </a:rPr>
              <a:t>We keep doing this incremental development at team level until the last sprint.</a:t>
            </a:r>
            <a:endParaRPr lang="en-US" sz="28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8554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048" y="551936"/>
            <a:ext cx="10058400" cy="444019"/>
          </a:xfrm>
        </p:spPr>
        <p:txBody>
          <a:bodyPr>
            <a:noAutofit/>
          </a:bodyPr>
          <a:lstStyle/>
          <a:p>
            <a:pPr algn="ctr"/>
            <a:r>
              <a:rPr lang="en-US" sz="4000" dirty="0" smtClean="0">
                <a:solidFill>
                  <a:srgbClr val="C00000"/>
                </a:solidFill>
              </a:rPr>
              <a:t>Last Sprint</a:t>
            </a:r>
            <a:endParaRPr lang="en-US" sz="40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>
                <a:solidFill>
                  <a:srgbClr val="7030A0"/>
                </a:solidFill>
              </a:rPr>
              <a:t> In last sprint, we don’t do any development instead it is reserved for IP (Innovation and planning sprint).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7030A0"/>
                </a:solidFill>
              </a:rPr>
              <a:t> </a:t>
            </a:r>
            <a:r>
              <a:rPr lang="en-US" sz="3200" dirty="0" smtClean="0">
                <a:solidFill>
                  <a:srgbClr val="7030A0"/>
                </a:solidFill>
              </a:rPr>
              <a:t>It is kept to do innovations, </a:t>
            </a:r>
            <a:r>
              <a:rPr lang="en-US" sz="3200" dirty="0">
                <a:solidFill>
                  <a:srgbClr val="7030A0"/>
                </a:solidFill>
              </a:rPr>
              <a:t>h</a:t>
            </a:r>
            <a:r>
              <a:rPr lang="en-US" sz="3200" dirty="0" smtClean="0">
                <a:solidFill>
                  <a:srgbClr val="7030A0"/>
                </a:solidFill>
              </a:rPr>
              <a:t>ardening, </a:t>
            </a:r>
            <a:r>
              <a:rPr lang="en-US" sz="3200" dirty="0" smtClean="0">
                <a:solidFill>
                  <a:srgbClr val="7030A0"/>
                </a:solidFill>
              </a:rPr>
              <a:t>hackathons.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7030A0"/>
                </a:solidFill>
              </a:rPr>
              <a:t> </a:t>
            </a:r>
            <a:r>
              <a:rPr lang="en-US" sz="3200" dirty="0" smtClean="0">
                <a:solidFill>
                  <a:srgbClr val="7030A0"/>
                </a:solidFill>
              </a:rPr>
              <a:t>The most important is, we plan for next PI in the last sprint.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solidFill>
                  <a:srgbClr val="7030A0"/>
                </a:solidFill>
              </a:rPr>
              <a:t> </a:t>
            </a:r>
            <a:r>
              <a:rPr lang="en-US" sz="3200" dirty="0" smtClean="0">
                <a:solidFill>
                  <a:srgbClr val="7030A0"/>
                </a:solidFill>
              </a:rPr>
              <a:t>An Inspect and adapt event is planned and all 50 – 125 members are required to attend the event to see where the system is headed.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76501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3978876" y="2454876"/>
            <a:ext cx="3731741" cy="937998"/>
          </a:xfrm>
        </p:spPr>
        <p:txBody>
          <a:bodyPr>
            <a:normAutofit/>
          </a:bodyPr>
          <a:lstStyle/>
          <a:p>
            <a:pPr algn="ctr"/>
            <a:r>
              <a:rPr lang="en-US" sz="6000" dirty="0" smtClean="0">
                <a:solidFill>
                  <a:srgbClr val="7030A0"/>
                </a:solidFill>
              </a:rPr>
              <a:t>Thank You!</a:t>
            </a:r>
            <a:endParaRPr lang="en-US" sz="60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6283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741</Words>
  <Application>Microsoft Office PowerPoint</Application>
  <PresentationFormat>Widescreen</PresentationFormat>
  <Paragraphs>210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Wingdings</vt:lpstr>
      <vt:lpstr>Retrospect</vt:lpstr>
      <vt:lpstr>SAFe</vt:lpstr>
      <vt:lpstr>SAFe</vt:lpstr>
      <vt:lpstr>Isn’t simple Agile enough? Why SAFe?</vt:lpstr>
      <vt:lpstr>Agile is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Last Sprint</vt:lpstr>
      <vt:lpstr>Thank You!</vt:lpstr>
    </vt:vector>
  </TitlesOfParts>
  <Company>BOSCH Group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</dc:title>
  <dc:creator>FIXED-TERM Rahul Chandravanshi (RBEI/ESZ1)</dc:creator>
  <cp:lastModifiedBy>FIXED-TERM Rahul Chandravanshi (RBEI/ESZ1)</cp:lastModifiedBy>
  <cp:revision>31</cp:revision>
  <dcterms:created xsi:type="dcterms:W3CDTF">2018-02-27T04:10:55Z</dcterms:created>
  <dcterms:modified xsi:type="dcterms:W3CDTF">2018-02-28T08:47:45Z</dcterms:modified>
</cp:coreProperties>
</file>